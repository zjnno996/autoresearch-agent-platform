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</p:sldIdLst>
  <p:sldSz cx="13333333" cy="7500000" type="wide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<Relationship Id="rId2" Type="http://schemas.openxmlformats.org/officeDocument/2006/relationships/slide" Target="slides/slide2.xml"/>
<Relationship Id="rId3" Type="http://schemas.openxmlformats.org/officeDocument/2006/relationships/slide" Target="slides/slide3.xml"/>
<Relationship Id="rId4" Type="http://schemas.openxmlformats.org/officeDocument/2006/relationships/slide" Target="slides/slide4.xml"/>
<Relationship Id="rId5" Type="http://schemas.openxmlformats.org/officeDocument/2006/relationships/slide" Target="slides/slide5.xml"/>
<Relationship Id="rId6" Type="http://schemas.openxmlformats.org/officeDocument/2006/relationships/slide" Target="slides/slide6.xml"/>
<Relationship Id="rId7" Type="http://schemas.openxmlformats.org/officeDocument/2006/relationships/slide" Target="slides/slide7.xml"/>
<Relationship Id="rId8" Type="http://schemas.openxmlformats.org/officeDocument/2006/relationships/slide" Target="slides/slide8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10"/>
          <p:cNvSpPr txBox="1"/>
          <p:nvPr/>
        </p:nvSpPr>
        <p:spPr>
          <a:xfrm>
            <a:off x="700000" y="850000"/>
            <a:ext cx="11900000" cy="140000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c"/>
            <a:r>
              <a:rPr lang="zh-CN" sz="4000" b="1">
                <a:solidFill>
                  <a:srgbClr val="101828"/>
                </a:solidFill>
                <a:latin typeface="Microsoft YaHei"/>
                <a:ea typeface="Microsoft YaHei"/>
              </a:rPr>
              <a:t>AutoReview 核心技术路线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50000" y="2280000"/>
            <a:ext cx="10800000" cy="54000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c"/>
            <a:r>
              <a:rPr lang="zh-CN" sz="2200">
                <a:solidFill>
                  <a:srgbClr val="344054"/>
                </a:solidFill>
                <a:latin typeface="Microsoft YaHei"/>
                <a:ea typeface="Microsoft YaHei"/>
              </a:rPr>
              <a:t>RAG-calibrated, fact-grounded, multi-dimensional LLM peer review pipeline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000000" y="3350000"/>
            <a:ext cx="9300000" cy="1200000"/>
          </a:xfrm>
          <a:prstGeom prst="roundRect">
            <a:avLst/>
          </a:prstGeom>
          <a:solidFill>
            <a:srgbClr val="FFFFFF"/>
          </a:solidFill>
          <a:ln w="12000">
            <a:solidFill>
              <a:srgbClr val="D0D5DD"/>
            </a:solidFill>
          </a:ln>
        </p:spPr>
        <p:txBody>
          <a:bodyPr wrap="square" anchor="mid">
            <a:spAutoFit/>
          </a:bodyPr>
          <a:lstStyle/>
          <a:p>
            <a:pPr algn="c"/>
            <a:r>
              <a:rPr lang="zh-CN" sz="2400">
                <a:solidFill>
                  <a:srgbClr val="172033"/>
                </a:solidFill>
                <a:latin typeface="Microsoft YaHei"/>
                <a:ea typeface="Microsoft YaHei"/>
              </a:rPr>
              <a:t>从论文 PDF 出发，经过内容抽取、事实 grounding、few-shot 评分校准、多维专家评审与 Area Chair 聚合，生成结构化同行评审报告。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250000" y="5500000"/>
            <a:ext cx="4800000" cy="520000"/>
          </a:xfrm>
          <a:prstGeom prst="roundRect">
            <a:avLst/>
          </a:prstGeom>
          <a:solidFill>
            <a:srgbClr val="E8F0FE"/>
          </a:solidFill>
          <a:ln w="12000">
            <a:solidFill>
              <a:srgbClr val="B2CCFF"/>
            </a:solidFill>
          </a:ln>
        </p:spPr>
        <p:txBody>
          <a:bodyPr wrap="square" anchor="mid">
            <a:spAutoFit/>
          </a:bodyPr>
          <a:lstStyle/>
          <a:p>
            <a:pPr algn="c"/>
            <a:r>
              <a:rPr lang="zh-CN" sz="2000" b="1">
                <a:solidFill>
                  <a:srgbClr val="1849A9"/>
                </a:solidFill>
                <a:latin typeface="Microsoft YaHei"/>
                <a:ea typeface="Microsoft YaHei"/>
              </a:rPr>
              <a:t>Claw-AI-Lab / AutoReview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4"/>
          <p:cNvSpPr txBox="1"/>
          <p:nvPr/>
        </p:nvSpPr>
        <p:spPr>
          <a:xfrm>
            <a:off x="650000" y="440000"/>
            <a:ext cx="120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zh-CN" sz="3400" b="1">
                <a:solidFill>
                  <a:srgbClr val="101828"/>
                </a:solidFill>
                <a:latin typeface="Microsoft YaHei"/>
                <a:ea typeface="Microsoft YaHei"/>
              </a:rPr>
              <a:t>核心架构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50000" y="1080000"/>
            <a:ext cx="10800000" cy="36000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zh-CN" sz="1600">
                <a:solidFill>
                  <a:srgbClr val="667085"/>
                </a:solidFill>
                <a:latin typeface="Microsoft YaHei"/>
                <a:ea typeface="Microsoft YaHei"/>
              </a:rPr>
              <a:t>只保留算法与评审引擎部分，不展开前端/服务接口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00000" y="2000000"/>
            <a:ext cx="1850000" cy="760000"/>
          </a:xfrm>
          <a:prstGeom prst="roundRect">
            <a:avLst/>
          </a:prstGeom>
          <a:solidFill>
            <a:srgbClr val="FFFFFF"/>
          </a:solidFill>
          <a:ln w="12000">
            <a:solidFill>
              <a:srgbClr val="D0D5DD"/>
            </a:solidFill>
          </a:ln>
        </p:spPr>
        <p:txBody>
          <a:bodyPr wrap="square" anchor="mid">
            <a:spAutoFit/>
          </a:bodyPr>
          <a:lstStyle/>
          <a:p>
            <a:pPr algn="c"/>
            <a:r>
              <a:rPr lang="zh-CN" sz="2200" b="1">
                <a:solidFill>
                  <a:srgbClr val="172033"/>
                </a:solidFill>
                <a:latin typeface="Microsoft YaHei"/>
                <a:ea typeface="Microsoft YaHei"/>
              </a:rPr>
              <a:t>论文 PDF</a:t>
            </a:r>
          </a:p>
        </p:txBody>
      </p:sp>
      <p:cxnSp>
        <p:nvCxnSpPr>
          <p:cNvPr id="18" name="Connector 18"/>
          <p:cNvCxnSpPr/>
          <p:nvPr/>
        </p:nvCxnSpPr>
        <p:spPr>
          <a:xfrm>
            <a:off x="2450000" y="2380000"/>
            <a:ext cx="600000" cy="1"/>
          </a:xfrm>
          <a:prstGeom prst="line">
            <a:avLst/>
          </a:prstGeom>
          <a:ln w="22000">
            <a:solidFill>
              <a:srgbClr val="6B7280"/>
            </a:solidFill>
            <a:tailEnd type="triangle"/>
          </a:ln>
        </p:spPr>
      </p:cxnSp>
      <p:sp>
        <p:nvSpPr>
          <p:cNvPr id="18" name="TextBox 18"/>
          <p:cNvSpPr txBox="1"/>
          <p:nvPr/>
        </p:nvSpPr>
        <p:spPr>
          <a:xfrm>
            <a:off x="3050000" y="1650000"/>
            <a:ext cx="2150000" cy="1420000"/>
          </a:xfrm>
          <a:prstGeom prst="roundRect">
            <a:avLst/>
          </a:prstGeom>
          <a:solidFill>
            <a:srgbClr val="ECFDF3"/>
          </a:solidFill>
          <a:ln w="12000">
            <a:solidFill>
              <a:srgbClr val="ABEFC6"/>
            </a:solidFill>
          </a:ln>
        </p:spPr>
        <p:txBody>
          <a:bodyPr wrap="square" anchor="mid">
            <a:spAutoFit/>
          </a:bodyPr>
          <a:lstStyle/>
          <a:p>
            <a:pPr algn="c"/>
            <a:r>
              <a:rPr lang="zh-CN" sz="1800">
                <a:solidFill>
                  <a:srgbClr val="067647"/>
                </a:solidFill>
                <a:latin typeface="Microsoft YaHei"/>
                <a:ea typeface="Microsoft YaHei"/>
              </a:rPr>
              <a:t>内容抽取层</a:t>
            </a:r>
          </a:p>
          <a:p>
            <a:pPr algn="c"/>
            <a:r>
              <a:rPr lang="zh-CN" sz="1800">
                <a:solidFill>
                  <a:srgbClr val="067647"/>
                </a:solidFill>
                <a:latin typeface="Microsoft YaHei"/>
                <a:ea typeface="Microsoft YaHei"/>
              </a:rPr>
              <a:t>文本抽取</a:t>
            </a:r>
          </a:p>
          <a:p>
            <a:pPr algn="c"/>
            <a:r>
              <a:rPr lang="zh-CN" sz="1800">
                <a:solidFill>
                  <a:srgbClr val="067647"/>
                </a:solidFill>
                <a:latin typeface="Microsoft YaHei"/>
                <a:ea typeface="Microsoft YaHei"/>
              </a:rPr>
              <a:t>可选视觉抽取</a:t>
            </a:r>
          </a:p>
          <a:p>
            <a:pPr algn="c"/>
            <a:r>
              <a:rPr lang="zh-CN" sz="1800">
                <a:solidFill>
                  <a:srgbClr val="067647"/>
                </a:solidFill>
                <a:latin typeface="Microsoft YaHei"/>
                <a:ea typeface="Microsoft YaHei"/>
              </a:rPr>
              <a:t>缓存与质量评估</a:t>
            </a:r>
          </a:p>
        </p:txBody>
      </p:sp>
      <p:cxnSp>
        <p:nvCxnSpPr>
          <p:cNvPr id="20" name="Connector 20"/>
          <p:cNvCxnSpPr/>
          <p:nvPr/>
        </p:nvCxnSpPr>
        <p:spPr>
          <a:xfrm>
            <a:off x="5200000" y="2380000"/>
            <a:ext cx="580000" cy="1"/>
          </a:xfrm>
          <a:prstGeom prst="line">
            <a:avLst/>
          </a:prstGeom>
          <a:ln w="22000">
            <a:solidFill>
              <a:srgbClr val="6B7280"/>
            </a:solidFill>
            <a:tailEnd type="triangle"/>
          </a:ln>
        </p:spPr>
      </p:cxnSp>
      <p:sp>
        <p:nvSpPr>
          <p:cNvPr id="20" name="TextBox 20"/>
          <p:cNvSpPr txBox="1"/>
          <p:nvPr/>
        </p:nvSpPr>
        <p:spPr>
          <a:xfrm>
            <a:off x="5780000" y="1650000"/>
            <a:ext cx="2150000" cy="1420000"/>
          </a:xfrm>
          <a:prstGeom prst="roundRect">
            <a:avLst/>
          </a:prstGeom>
          <a:solidFill>
            <a:srgbClr val="EFF8FF"/>
          </a:solidFill>
          <a:ln w="12000">
            <a:solidFill>
              <a:srgbClr val="B2DDFF"/>
            </a:solidFill>
          </a:ln>
        </p:spPr>
        <p:txBody>
          <a:bodyPr wrap="square" anchor="mid">
            <a:spAutoFit/>
          </a:bodyPr>
          <a:lstStyle/>
          <a:p>
            <a:pPr algn="c"/>
            <a:r>
              <a:rPr lang="zh-CN" sz="1800">
                <a:solidFill>
                  <a:srgbClr val="175CD3"/>
                </a:solidFill>
                <a:latin typeface="Microsoft YaHei"/>
                <a:ea typeface="Microsoft YaHei"/>
              </a:rPr>
              <a:t>上下文增强层</a:t>
            </a:r>
          </a:p>
          <a:p>
            <a:pPr algn="c"/>
            <a:r>
              <a:rPr lang="zh-CN" sz="1800">
                <a:solidFill>
                  <a:srgbClr val="175CD3"/>
                </a:solidFill>
                <a:latin typeface="Microsoft YaHei"/>
                <a:ea typeface="Microsoft YaHei"/>
              </a:rPr>
              <a:t>语义分段</a:t>
            </a:r>
          </a:p>
          <a:p>
            <a:pPr algn="c"/>
            <a:r>
              <a:rPr lang="zh-CN" sz="1800">
                <a:solidFill>
                  <a:srgbClr val="175CD3"/>
                </a:solidFill>
                <a:latin typeface="Microsoft YaHei"/>
                <a:ea typeface="Microsoft YaHei"/>
              </a:rPr>
              <a:t>事实抽取</a:t>
            </a:r>
          </a:p>
          <a:p>
            <a:pPr algn="c"/>
            <a:r>
              <a:rPr lang="zh-CN" sz="1800">
                <a:solidFill>
                  <a:srgbClr val="175CD3"/>
                </a:solidFill>
                <a:latin typeface="Microsoft YaHei"/>
                <a:ea typeface="Microsoft YaHei"/>
              </a:rPr>
              <a:t>few-shot RAG</a:t>
            </a:r>
          </a:p>
          <a:p>
            <a:pPr algn="c"/>
            <a:r>
              <a:rPr lang="zh-CN" sz="1800">
                <a:solidFill>
                  <a:srgbClr val="175CD3"/>
                </a:solidFill>
                <a:latin typeface="Microsoft YaHei"/>
                <a:ea typeface="Microsoft YaHei"/>
              </a:rPr>
              <a:t>引用上下文</a:t>
            </a:r>
          </a:p>
        </p:txBody>
      </p:sp>
      <p:cxnSp>
        <p:nvCxnSpPr>
          <p:cNvPr id="22" name="Connector 22"/>
          <p:cNvCxnSpPr/>
          <p:nvPr/>
        </p:nvCxnSpPr>
        <p:spPr>
          <a:xfrm>
            <a:off x="7930000" y="2380000"/>
            <a:ext cx="580000" cy="1"/>
          </a:xfrm>
          <a:prstGeom prst="line">
            <a:avLst/>
          </a:prstGeom>
          <a:ln w="22000">
            <a:solidFill>
              <a:srgbClr val="6B7280"/>
            </a:solidFill>
            <a:tailEnd type="triangle"/>
          </a:ln>
        </p:spPr>
      </p:cxnSp>
      <p:sp>
        <p:nvSpPr>
          <p:cNvPr id="22" name="TextBox 22"/>
          <p:cNvSpPr txBox="1"/>
          <p:nvPr/>
        </p:nvSpPr>
        <p:spPr>
          <a:xfrm>
            <a:off x="8510000" y="1650000"/>
            <a:ext cx="2150000" cy="1420000"/>
          </a:xfrm>
          <a:prstGeom prst="roundRect">
            <a:avLst/>
          </a:prstGeom>
          <a:solidFill>
            <a:srgbClr val="FFF6ED"/>
          </a:solidFill>
          <a:ln w="12000">
            <a:solidFill>
              <a:srgbClr val="FEDF89"/>
            </a:solidFill>
          </a:ln>
        </p:spPr>
        <p:txBody>
          <a:bodyPr wrap="square" anchor="mid">
            <a:spAutoFit/>
          </a:bodyPr>
          <a:lstStyle/>
          <a:p>
            <a:pPr algn="c"/>
            <a:r>
              <a:rPr lang="zh-CN" sz="1800">
                <a:solidFill>
                  <a:srgbClr val="B54708"/>
                </a:solidFill>
                <a:latin typeface="Microsoft YaHei"/>
                <a:ea typeface="Microsoft YaHei"/>
              </a:rPr>
              <a:t>多维评审层</a:t>
            </a:r>
          </a:p>
          <a:p>
            <a:pPr algn="c"/>
            <a:r>
              <a:rPr lang="zh-CN" sz="1800">
                <a:solidFill>
                  <a:srgbClr val="B54708"/>
                </a:solidFill>
                <a:latin typeface="Microsoft YaHei"/>
                <a:ea typeface="Microsoft YaHei"/>
              </a:rPr>
              <a:t>7 个专家维度</a:t>
            </a:r>
          </a:p>
          <a:p>
            <a:pPr algn="c"/>
            <a:r>
              <a:rPr lang="zh-CN" sz="1800">
                <a:solidFill>
                  <a:srgbClr val="B54708"/>
                </a:solidFill>
                <a:latin typeface="Microsoft YaHei"/>
                <a:ea typeface="Microsoft YaHei"/>
              </a:rPr>
              <a:t>Hybrid 分组并发</a:t>
            </a:r>
          </a:p>
          <a:p>
            <a:pPr algn="c"/>
            <a:r>
              <a:rPr lang="zh-CN" sz="1800">
                <a:solidFill>
                  <a:srgbClr val="B54708"/>
                </a:solidFill>
                <a:latin typeface="Microsoft YaHei"/>
                <a:ea typeface="Microsoft YaHei"/>
              </a:rPr>
              <a:t>多模型投票</a:t>
            </a:r>
          </a:p>
        </p:txBody>
      </p:sp>
      <p:cxnSp>
        <p:nvCxnSpPr>
          <p:cNvPr id="24" name="Connector 24"/>
          <p:cNvCxnSpPr/>
          <p:nvPr/>
        </p:nvCxnSpPr>
        <p:spPr>
          <a:xfrm>
            <a:off x="10660000" y="2380000"/>
            <a:ext cx="580000" cy="1"/>
          </a:xfrm>
          <a:prstGeom prst="line">
            <a:avLst/>
          </a:prstGeom>
          <a:ln w="22000">
            <a:solidFill>
              <a:srgbClr val="6B7280"/>
            </a:solidFill>
            <a:tailEnd type="triangle"/>
          </a:ln>
        </p:spPr>
      </p:cxnSp>
      <p:sp>
        <p:nvSpPr>
          <p:cNvPr id="24" name="TextBox 24"/>
          <p:cNvSpPr txBox="1"/>
          <p:nvPr/>
        </p:nvSpPr>
        <p:spPr>
          <a:xfrm>
            <a:off x="11240000" y="1650000"/>
            <a:ext cx="1650000" cy="1420000"/>
          </a:xfrm>
          <a:prstGeom prst="roundRect">
            <a:avLst/>
          </a:prstGeom>
          <a:solidFill>
            <a:srgbClr val="F4F3FF"/>
          </a:solidFill>
          <a:ln w="12000">
            <a:solidFill>
              <a:srgbClr val="D9D6FE"/>
            </a:solidFill>
          </a:ln>
        </p:spPr>
        <p:txBody>
          <a:bodyPr wrap="square" anchor="mid">
            <a:spAutoFit/>
          </a:bodyPr>
          <a:lstStyle/>
          <a:p>
            <a:pPr algn="c"/>
            <a:r>
              <a:rPr lang="zh-CN" sz="1800">
                <a:solidFill>
                  <a:srgbClr val="5925DC"/>
                </a:solidFill>
                <a:latin typeface="Microsoft YaHei"/>
                <a:ea typeface="Microsoft YaHei"/>
              </a:rPr>
              <a:t>聚合输出</a:t>
            </a:r>
          </a:p>
          <a:p>
            <a:pPr algn="c"/>
            <a:r>
              <a:rPr lang="zh-CN" sz="1800">
                <a:solidFill>
                  <a:srgbClr val="5925DC"/>
                </a:solidFill>
                <a:latin typeface="Microsoft YaHei"/>
                <a:ea typeface="Microsoft YaHei"/>
              </a:rPr>
              <a:t>质量检查</a:t>
            </a:r>
          </a:p>
          <a:p>
            <a:pPr algn="c"/>
            <a:r>
              <a:rPr lang="zh-CN" sz="1800">
                <a:solidFill>
                  <a:srgbClr val="5925DC"/>
                </a:solidFill>
                <a:latin typeface="Microsoft YaHei"/>
                <a:ea typeface="Microsoft YaHei"/>
              </a:rPr>
              <a:t>AC 总结</a:t>
            </a:r>
          </a:p>
          <a:p>
            <a:pPr algn="c"/>
            <a:r>
              <a:rPr lang="zh-CN" sz="1800">
                <a:solidFill>
                  <a:srgbClr val="5925DC"/>
                </a:solidFill>
                <a:latin typeface="Microsoft YaHei"/>
                <a:ea typeface="Microsoft YaHei"/>
              </a:rPr>
              <a:t>Review JSON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50000" y="4450000"/>
            <a:ext cx="11300000" cy="1150000"/>
          </a:xfrm>
          <a:prstGeom prst="roundRect">
            <a:avLst/>
          </a:prstGeom>
          <a:solidFill>
            <a:srgbClr val="FFFFFF"/>
          </a:solidFill>
          <a:ln w="12000">
            <a:solidFill>
              <a:srgbClr val="D0D5DD"/>
            </a:solidFill>
          </a:ln>
        </p:spPr>
        <p:txBody>
          <a:bodyPr wrap="square" anchor="mid">
            <a:spAutoFit/>
          </a:bodyPr>
          <a:lstStyle/>
          <a:p>
            <a:pPr algn="c"/>
            <a:r>
              <a:rPr lang="zh-CN" sz="2400">
                <a:solidFill>
                  <a:srgbClr val="344054"/>
                </a:solidFill>
                <a:latin typeface="Microsoft YaHei"/>
                <a:ea typeface="Microsoft YaHei"/>
              </a:rPr>
              <a:t>核心思想：先把论文变成可验证事实与结构化上下文，再让不同专家角色基于同一事实底座进行评分，最后进行一致性检查和总体决策聚合。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Box 26"/>
          <p:cNvSpPr txBox="1"/>
          <p:nvPr/>
        </p:nvSpPr>
        <p:spPr>
          <a:xfrm>
            <a:off x="650000" y="440000"/>
            <a:ext cx="120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zh-CN" sz="3400" b="1">
                <a:solidFill>
                  <a:srgbClr val="101828"/>
                </a:solidFill>
                <a:latin typeface="Microsoft YaHei"/>
                <a:ea typeface="Microsoft YaHei"/>
              </a:rPr>
              <a:t>技术路线流水线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50000" y="1080000"/>
            <a:ext cx="10800000" cy="36000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zh-CN" sz="1600">
                <a:solidFill>
                  <a:srgbClr val="667085"/>
                </a:solidFill>
                <a:latin typeface="Microsoft YaHei"/>
                <a:ea typeface="Microsoft YaHei"/>
              </a:rPr>
              <a:t>从输入到结构化评审报告的核心步骤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550000" y="2020000"/>
            <a:ext cx="1420000" cy="680000"/>
          </a:xfrm>
          <a:prstGeom prst="roundRect">
            <a:avLst/>
          </a:prstGeom>
          <a:solidFill>
            <a:srgbClr val="FFFFFF"/>
          </a:solidFill>
          <a:ln w="12000">
            <a:solidFill>
              <a:srgbClr val="D0D5DD"/>
            </a:solidFill>
          </a:ln>
        </p:spPr>
        <p:txBody>
          <a:bodyPr wrap="square" anchor="mid">
            <a:spAutoFit/>
          </a:bodyPr>
          <a:lstStyle/>
          <a:p>
            <a:pPr algn="c"/>
            <a:r>
              <a:rPr lang="zh-CN" sz="1800" b="1">
                <a:solidFill>
                  <a:srgbClr val="172033"/>
                </a:solidFill>
                <a:latin typeface="Microsoft YaHei"/>
                <a:ea typeface="Microsoft YaHei"/>
              </a:rPr>
              <a:t>PDF 输入</a:t>
            </a:r>
          </a:p>
        </p:txBody>
      </p:sp>
      <p:cxnSp>
        <p:nvCxnSpPr>
          <p:cNvPr id="30" name="Connector 30"/>
          <p:cNvCxnSpPr/>
          <p:nvPr/>
        </p:nvCxnSpPr>
        <p:spPr>
          <a:xfrm>
            <a:off x="1970000" y="2360000"/>
            <a:ext cx="460000" cy="1"/>
          </a:xfrm>
          <a:prstGeom prst="line">
            <a:avLst/>
          </a:prstGeom>
          <a:ln w="22000">
            <a:solidFill>
              <a:srgbClr val="6B7280"/>
            </a:solidFill>
            <a:tailEnd type="triangle"/>
          </a:ln>
        </p:spPr>
      </p:cxnSp>
      <p:sp>
        <p:nvSpPr>
          <p:cNvPr id="30" name="TextBox 30"/>
          <p:cNvSpPr txBox="1"/>
          <p:nvPr/>
        </p:nvSpPr>
        <p:spPr>
          <a:xfrm>
            <a:off x="2430000" y="1850000"/>
            <a:ext cx="1640000" cy="1020000"/>
          </a:xfrm>
          <a:prstGeom prst="roundRect">
            <a:avLst/>
          </a:prstGeom>
          <a:solidFill>
            <a:srgbClr val="ECFDF3"/>
          </a:solidFill>
          <a:ln w="12000">
            <a:solidFill>
              <a:srgbClr val="ABEFC6"/>
            </a:solidFill>
          </a:ln>
        </p:spPr>
        <p:txBody>
          <a:bodyPr wrap="square" anchor="mid">
            <a:spAutoFit/>
          </a:bodyPr>
          <a:lstStyle/>
          <a:p>
            <a:pPr algn="c"/>
            <a:r>
              <a:rPr lang="zh-CN" sz="1800" b="1">
                <a:solidFill>
                  <a:srgbClr val="067647"/>
                </a:solidFill>
                <a:latin typeface="Microsoft YaHei"/>
                <a:ea typeface="Microsoft YaHei"/>
              </a:rPr>
              <a:t>正文/图表</a:t>
            </a:r>
          </a:p>
          <a:p>
            <a:pPr algn="c"/>
            <a:r>
              <a:rPr lang="zh-CN" sz="1800" b="1">
                <a:solidFill>
                  <a:srgbClr val="067647"/>
                </a:solidFill>
                <a:latin typeface="Microsoft YaHei"/>
                <a:ea typeface="Microsoft YaHei"/>
              </a:rPr>
              <a:t>抽取</a:t>
            </a:r>
          </a:p>
        </p:txBody>
      </p:sp>
      <p:cxnSp>
        <p:nvCxnSpPr>
          <p:cNvPr id="32" name="Connector 32"/>
          <p:cNvCxnSpPr/>
          <p:nvPr/>
        </p:nvCxnSpPr>
        <p:spPr>
          <a:xfrm>
            <a:off x="4070000" y="2360000"/>
            <a:ext cx="460000" cy="1"/>
          </a:xfrm>
          <a:prstGeom prst="line">
            <a:avLst/>
          </a:prstGeom>
          <a:ln w="22000">
            <a:solidFill>
              <a:srgbClr val="6B7280"/>
            </a:solidFill>
            <a:tailEnd type="triangle"/>
          </a:ln>
        </p:spPr>
      </p:cxnSp>
      <p:sp>
        <p:nvSpPr>
          <p:cNvPr id="32" name="TextBox 32"/>
          <p:cNvSpPr txBox="1"/>
          <p:nvPr/>
        </p:nvSpPr>
        <p:spPr>
          <a:xfrm>
            <a:off x="4530000" y="1850000"/>
            <a:ext cx="1640000" cy="1020000"/>
          </a:xfrm>
          <a:prstGeom prst="roundRect">
            <a:avLst/>
          </a:prstGeom>
          <a:solidFill>
            <a:srgbClr val="EFF8FF"/>
          </a:solidFill>
          <a:ln w="12000">
            <a:solidFill>
              <a:srgbClr val="B2DDFF"/>
            </a:solidFill>
          </a:ln>
        </p:spPr>
        <p:txBody>
          <a:bodyPr wrap="square" anchor="mid">
            <a:spAutoFit/>
          </a:bodyPr>
          <a:lstStyle/>
          <a:p>
            <a:pPr algn="c"/>
            <a:r>
              <a:rPr lang="zh-CN" sz="1800" b="1">
                <a:solidFill>
                  <a:srgbClr val="175CD3"/>
                </a:solidFill>
                <a:latin typeface="Microsoft YaHei"/>
                <a:ea typeface="Microsoft YaHei"/>
              </a:rPr>
              <a:t>语义分段</a:t>
            </a:r>
          </a:p>
          <a:p>
            <a:pPr algn="c"/>
            <a:r>
              <a:rPr lang="zh-CN" sz="1800" b="1">
                <a:solidFill>
                  <a:srgbClr val="175CD3"/>
                </a:solidFill>
                <a:latin typeface="Microsoft YaHei"/>
                <a:ea typeface="Microsoft YaHei"/>
              </a:rPr>
              <a:t>压缩</a:t>
            </a:r>
          </a:p>
        </p:txBody>
      </p:sp>
      <p:cxnSp>
        <p:nvCxnSpPr>
          <p:cNvPr id="34" name="Connector 34"/>
          <p:cNvCxnSpPr/>
          <p:nvPr/>
        </p:nvCxnSpPr>
        <p:spPr>
          <a:xfrm>
            <a:off x="6170000" y="2360000"/>
            <a:ext cx="460000" cy="1"/>
          </a:xfrm>
          <a:prstGeom prst="line">
            <a:avLst/>
          </a:prstGeom>
          <a:ln w="22000">
            <a:solidFill>
              <a:srgbClr val="6B7280"/>
            </a:solidFill>
            <a:tailEnd type="triangle"/>
          </a:ln>
        </p:spPr>
      </p:cxnSp>
      <p:sp>
        <p:nvSpPr>
          <p:cNvPr id="34" name="TextBox 34"/>
          <p:cNvSpPr txBox="1"/>
          <p:nvPr/>
        </p:nvSpPr>
        <p:spPr>
          <a:xfrm>
            <a:off x="6630000" y="1850000"/>
            <a:ext cx="1640000" cy="1020000"/>
          </a:xfrm>
          <a:prstGeom prst="roundRect">
            <a:avLst/>
          </a:prstGeom>
          <a:solidFill>
            <a:srgbClr val="EEF4FF"/>
          </a:solidFill>
          <a:ln w="12000">
            <a:solidFill>
              <a:srgbClr val="C7D7FE"/>
            </a:solidFill>
          </a:ln>
        </p:spPr>
        <p:txBody>
          <a:bodyPr wrap="square" anchor="mid">
            <a:spAutoFit/>
          </a:bodyPr>
          <a:lstStyle/>
          <a:p>
            <a:pPr algn="c"/>
            <a:r>
              <a:rPr lang="zh-CN" sz="1800" b="1">
                <a:solidFill>
                  <a:srgbClr val="3538CD"/>
                </a:solidFill>
                <a:latin typeface="Microsoft YaHei"/>
                <a:ea typeface="Microsoft YaHei"/>
              </a:rPr>
              <a:t>事实抽取</a:t>
            </a:r>
          </a:p>
          <a:p>
            <a:pPr algn="c"/>
            <a:r>
              <a:rPr lang="zh-CN" sz="1800" b="1">
                <a:solidFill>
                  <a:srgbClr val="3538CD"/>
                </a:solidFill>
                <a:latin typeface="Microsoft YaHei"/>
                <a:ea typeface="Microsoft YaHei"/>
              </a:rPr>
              <a:t>Grounding</a:t>
            </a:r>
          </a:p>
        </p:txBody>
      </p:sp>
      <p:cxnSp>
        <p:nvCxnSpPr>
          <p:cNvPr id="36" name="Connector 36"/>
          <p:cNvCxnSpPr/>
          <p:nvPr/>
        </p:nvCxnSpPr>
        <p:spPr>
          <a:xfrm>
            <a:off x="8270000" y="2360000"/>
            <a:ext cx="460000" cy="1"/>
          </a:xfrm>
          <a:prstGeom prst="line">
            <a:avLst/>
          </a:prstGeom>
          <a:ln w="22000">
            <a:solidFill>
              <a:srgbClr val="6B7280"/>
            </a:solidFill>
            <a:tailEnd type="triangle"/>
          </a:ln>
        </p:spPr>
      </p:cxnSp>
      <p:sp>
        <p:nvSpPr>
          <p:cNvPr id="36" name="TextBox 36"/>
          <p:cNvSpPr txBox="1"/>
          <p:nvPr/>
        </p:nvSpPr>
        <p:spPr>
          <a:xfrm>
            <a:off x="8730000" y="1850000"/>
            <a:ext cx="1640000" cy="1020000"/>
          </a:xfrm>
          <a:prstGeom prst="roundRect">
            <a:avLst/>
          </a:prstGeom>
          <a:solidFill>
            <a:srgbClr val="FFF6ED"/>
          </a:solidFill>
          <a:ln w="12000">
            <a:solidFill>
              <a:srgbClr val="FEDF89"/>
            </a:solidFill>
          </a:ln>
        </p:spPr>
        <p:txBody>
          <a:bodyPr wrap="square" anchor="mid">
            <a:spAutoFit/>
          </a:bodyPr>
          <a:lstStyle/>
          <a:p>
            <a:pPr algn="c"/>
            <a:r>
              <a:rPr lang="zh-CN" sz="1800" b="1">
                <a:solidFill>
                  <a:srgbClr val="B54708"/>
                </a:solidFill>
                <a:latin typeface="Microsoft YaHei"/>
                <a:ea typeface="Microsoft YaHei"/>
              </a:rPr>
              <a:t>few-shot</a:t>
            </a:r>
          </a:p>
          <a:p>
            <a:pPr algn="c"/>
            <a:r>
              <a:rPr lang="zh-CN" sz="1800" b="1">
                <a:solidFill>
                  <a:srgbClr val="B54708"/>
                </a:solidFill>
                <a:latin typeface="Microsoft YaHei"/>
                <a:ea typeface="Microsoft YaHei"/>
              </a:rPr>
              <a:t>评分校准</a:t>
            </a:r>
          </a:p>
        </p:txBody>
      </p:sp>
      <p:cxnSp>
        <p:nvCxnSpPr>
          <p:cNvPr id="38" name="Connector 38"/>
          <p:cNvCxnSpPr/>
          <p:nvPr/>
        </p:nvCxnSpPr>
        <p:spPr>
          <a:xfrm>
            <a:off x="10370000" y="2360000"/>
            <a:ext cx="460000" cy="1"/>
          </a:xfrm>
          <a:prstGeom prst="line">
            <a:avLst/>
          </a:prstGeom>
          <a:ln w="22000">
            <a:solidFill>
              <a:srgbClr val="6B7280"/>
            </a:solidFill>
            <a:tailEnd type="triangle"/>
          </a:ln>
        </p:spPr>
      </p:cxnSp>
      <p:sp>
        <p:nvSpPr>
          <p:cNvPr id="38" name="TextBox 38"/>
          <p:cNvSpPr txBox="1"/>
          <p:nvPr/>
        </p:nvSpPr>
        <p:spPr>
          <a:xfrm>
            <a:off x="10830000" y="1850000"/>
            <a:ext cx="1640000" cy="1020000"/>
          </a:xfrm>
          <a:prstGeom prst="roundRect">
            <a:avLst/>
          </a:prstGeom>
          <a:solidFill>
            <a:srgbClr val="F4F3FF"/>
          </a:solidFill>
          <a:ln w="12000">
            <a:solidFill>
              <a:srgbClr val="D9D6FE"/>
            </a:solidFill>
          </a:ln>
        </p:spPr>
        <p:txBody>
          <a:bodyPr wrap="square" anchor="mid">
            <a:spAutoFit/>
          </a:bodyPr>
          <a:lstStyle/>
          <a:p>
            <a:pPr algn="c"/>
            <a:r>
              <a:rPr lang="zh-CN" sz="1800" b="1">
                <a:solidFill>
                  <a:srgbClr val="5925DC"/>
                </a:solidFill>
                <a:latin typeface="Microsoft YaHei"/>
                <a:ea typeface="Microsoft YaHei"/>
              </a:rPr>
              <a:t>多维评审</a:t>
            </a:r>
          </a:p>
          <a:p>
            <a:pPr algn="c"/>
            <a:r>
              <a:rPr lang="zh-CN" sz="1800" b="1">
                <a:solidFill>
                  <a:srgbClr val="5925DC"/>
                </a:solidFill>
                <a:latin typeface="Microsoft YaHei"/>
                <a:ea typeface="Microsoft YaHei"/>
              </a:rPr>
              <a:t>聚合输出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000000" y="4050000"/>
            <a:ext cx="11300000" cy="1550000"/>
          </a:xfrm>
          <a:prstGeom prst="roundRect">
            <a:avLst/>
          </a:prstGeom>
          <a:solidFill>
            <a:srgbClr val="FFFFFF"/>
          </a:solidFill>
          <a:ln w="12000">
            <a:solidFill>
              <a:srgbClr val="D0D5DD"/>
            </a:solidFill>
          </a:ln>
        </p:spPr>
        <p:txBody>
          <a:bodyPr wrap="square" anchor="mid">
            <a:spAutoFit/>
          </a:bodyPr>
          <a:lstStyle/>
          <a:p>
            <a:pPr algn="c"/>
            <a:r>
              <a:rPr lang="zh-CN" sz="2400">
                <a:solidFill>
                  <a:srgbClr val="344054"/>
                </a:solidFill>
                <a:latin typeface="Microsoft YaHei"/>
                <a:ea typeface="Microsoft YaHei"/>
              </a:rPr>
              <a:t>关键路径：PDF → 内容表示 → 结构化事实 → RAG 样例校准 → 维度专家评审 → 一致性/grounding 检查 → Area Chair 总结 → Review JSON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extBox 40"/>
          <p:cNvSpPr txBox="1"/>
          <p:nvPr/>
        </p:nvSpPr>
        <p:spPr>
          <a:xfrm>
            <a:off x="650000" y="440000"/>
            <a:ext cx="120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zh-CN" sz="3400" b="1">
                <a:solidFill>
                  <a:srgbClr val="101828"/>
                </a:solidFill>
                <a:latin typeface="Microsoft YaHei"/>
                <a:ea typeface="Microsoft YaHei"/>
              </a:rPr>
              <a:t>核心模块 1：内容抽取与语义分段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650000" y="1080000"/>
            <a:ext cx="10800000" cy="36000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zh-CN" sz="1600">
                <a:solidFill>
                  <a:srgbClr val="667085"/>
                </a:solidFill>
                <a:latin typeface="Microsoft YaHei"/>
                <a:ea typeface="Microsoft YaHei"/>
              </a:rPr>
              <a:t>解决 LLM 评审前的上下文质量问题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850000" y="1850000"/>
            <a:ext cx="3550000" cy="1400000"/>
          </a:xfrm>
          <a:prstGeom prst="roundRect">
            <a:avLst/>
          </a:prstGeom>
          <a:solidFill>
            <a:srgbClr val="FFFFFF"/>
          </a:solidFill>
          <a:ln w="12000">
            <a:solidFill>
              <a:srgbClr val="D0D5DD"/>
            </a:solidFill>
          </a:ln>
        </p:spPr>
        <p:txBody>
          <a:bodyPr wrap="square" anchor="mid">
            <a:spAutoFit/>
          </a:bodyPr>
          <a:lstStyle/>
          <a:p>
            <a:pPr algn="l"/>
            <a:r>
              <a:rPr lang="zh-CN" sz="1800">
                <a:solidFill>
                  <a:srgbClr val="172033"/>
                </a:solidFill>
                <a:latin typeface="Microsoft YaHei"/>
                <a:ea typeface="Microsoft YaHei"/>
              </a:rPr>
              <a:t>PDF 文本抽取</a:t>
            </a:r>
          </a:p>
          <a:p>
            <a:pPr algn="l"/>
            <a:r>
              <a:rPr lang="zh-CN" sz="1800">
                <a:solidFill>
                  <a:srgbClr val="172033"/>
                </a:solidFill>
                <a:latin typeface="Microsoft YaHei"/>
                <a:ea typeface="Microsoft YaHei"/>
              </a:rPr>
              <a:t/>
            </a:r>
          </a:p>
          <a:p>
            <a:pPr algn="l"/>
            <a:r>
              <a:rPr lang="zh-CN" sz="1800">
                <a:solidFill>
                  <a:srgbClr val="172033"/>
                </a:solidFill>
                <a:latin typeface="Microsoft YaHei"/>
                <a:ea typeface="Microsoft YaHei"/>
              </a:rPr>
              <a:t>PyPDF2 与 pdfminer 并行运行，选择更完整文本；清理页码、断词、异常空行。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4900000" y="1850000"/>
            <a:ext cx="3550000" cy="1400000"/>
          </a:xfrm>
          <a:prstGeom prst="roundRect">
            <a:avLst/>
          </a:prstGeom>
          <a:solidFill>
            <a:srgbClr val="FFFFFF"/>
          </a:solidFill>
          <a:ln w="12000">
            <a:solidFill>
              <a:srgbClr val="D0D5DD"/>
            </a:solidFill>
          </a:ln>
        </p:spPr>
        <p:txBody>
          <a:bodyPr wrap="square" anchor="mid">
            <a:spAutoFit/>
          </a:bodyPr>
          <a:lstStyle/>
          <a:p>
            <a:pPr algn="l"/>
            <a:r>
              <a:rPr lang="zh-CN" sz="1800">
                <a:solidFill>
                  <a:srgbClr val="172033"/>
                </a:solidFill>
                <a:latin typeface="Microsoft YaHei"/>
                <a:ea typeface="Microsoft YaHei"/>
              </a:rPr>
              <a:t>可选视觉抽取</a:t>
            </a:r>
          </a:p>
          <a:p>
            <a:pPr algn="l"/>
            <a:r>
              <a:rPr lang="zh-CN" sz="1800">
                <a:solidFill>
                  <a:srgbClr val="172033"/>
                </a:solidFill>
                <a:latin typeface="Microsoft YaHei"/>
                <a:ea typeface="Microsoft YaHei"/>
              </a:rPr>
              <a:t/>
            </a:r>
          </a:p>
          <a:p>
            <a:pPr algn="l"/>
            <a:r>
              <a:rPr lang="zh-CN" sz="1800">
                <a:solidFill>
                  <a:srgbClr val="172033"/>
                </a:solidFill>
                <a:latin typeface="Microsoft YaHei"/>
                <a:ea typeface="Microsoft YaHei"/>
              </a:rPr>
              <a:t>将重要页面渲染为图片，使用 Vision LLM 读取图表、表格、公式和扫描件内容。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8950000" y="1850000"/>
            <a:ext cx="3550000" cy="1400000"/>
          </a:xfrm>
          <a:prstGeom prst="roundRect">
            <a:avLst/>
          </a:prstGeom>
          <a:solidFill>
            <a:srgbClr val="FFFFFF"/>
          </a:solidFill>
          <a:ln w="12000">
            <a:solidFill>
              <a:srgbClr val="D0D5DD"/>
            </a:solidFill>
          </a:ln>
        </p:spPr>
        <p:txBody>
          <a:bodyPr wrap="square" anchor="mid">
            <a:spAutoFit/>
          </a:bodyPr>
          <a:lstStyle/>
          <a:p>
            <a:pPr algn="l"/>
            <a:r>
              <a:rPr lang="zh-CN" sz="1800">
                <a:solidFill>
                  <a:srgbClr val="172033"/>
                </a:solidFill>
                <a:latin typeface="Microsoft YaHei"/>
                <a:ea typeface="Microsoft YaHei"/>
              </a:rPr>
              <a:t>语义分段压缩</a:t>
            </a:r>
          </a:p>
          <a:p>
            <a:pPr algn="l"/>
            <a:r>
              <a:rPr lang="zh-CN" sz="1800">
                <a:solidFill>
                  <a:srgbClr val="172033"/>
                </a:solidFill>
                <a:latin typeface="Microsoft YaHei"/>
                <a:ea typeface="Microsoft YaHei"/>
              </a:rPr>
              <a:t/>
            </a:r>
          </a:p>
          <a:p>
            <a:pPr algn="l"/>
            <a:r>
              <a:rPr lang="zh-CN" sz="1800">
                <a:solidFill>
                  <a:srgbClr val="172033"/>
                </a:solidFill>
                <a:latin typeface="Microsoft YaHei"/>
                <a:ea typeface="Microsoft YaHei"/>
              </a:rPr>
              <a:t>识别 abstract、method、experiment、results 等章节；每个维度只取相关内容。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150000" y="4520000"/>
            <a:ext cx="10700000" cy="840000"/>
          </a:xfrm>
          <a:prstGeom prst="roundRect">
            <a:avLst/>
          </a:prstGeom>
          <a:solidFill>
            <a:srgbClr val="ECFDF3"/>
          </a:solidFill>
          <a:ln w="12000">
            <a:solidFill>
              <a:srgbClr val="ABEFC6"/>
            </a:solidFill>
          </a:ln>
        </p:spPr>
        <p:txBody>
          <a:bodyPr wrap="square" anchor="mid">
            <a:spAutoFit/>
          </a:bodyPr>
          <a:lstStyle/>
          <a:p>
            <a:pPr algn="c"/>
            <a:r>
              <a:rPr lang="zh-CN" sz="2400" b="1">
                <a:solidFill>
                  <a:srgbClr val="067647"/>
                </a:solidFill>
                <a:latin typeface="Microsoft YaHei"/>
                <a:ea typeface="Microsoft YaHei"/>
              </a:rPr>
              <a:t>目的：提高论文内容覆盖率，降低 token 成本，并减少模型因上下文噪声产生的误判。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Box 46"/>
          <p:cNvSpPr txBox="1"/>
          <p:nvPr/>
        </p:nvSpPr>
        <p:spPr>
          <a:xfrm>
            <a:off x="650000" y="440000"/>
            <a:ext cx="120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zh-CN" sz="3400" b="1">
                <a:solidFill>
                  <a:srgbClr val="101828"/>
                </a:solidFill>
                <a:latin typeface="Microsoft YaHei"/>
                <a:ea typeface="Microsoft YaHei"/>
              </a:rPr>
              <a:t>核心模块 2：事实 Grounding 与 few-shot RAG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650000" y="1080000"/>
            <a:ext cx="10800000" cy="36000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zh-CN" sz="1600">
                <a:solidFill>
                  <a:srgbClr val="667085"/>
                </a:solidFill>
                <a:latin typeface="Microsoft YaHei"/>
                <a:ea typeface="Microsoft YaHei"/>
              </a:rPr>
              <a:t>让评审更具体、更稳定、更少幻觉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900000" y="1750000"/>
            <a:ext cx="4000000" cy="2000000"/>
          </a:xfrm>
          <a:prstGeom prst="roundRect">
            <a:avLst/>
          </a:prstGeom>
          <a:solidFill>
            <a:srgbClr val="EEF4FF"/>
          </a:solidFill>
          <a:ln w="12000">
            <a:solidFill>
              <a:srgbClr val="C7D7FE"/>
            </a:solidFill>
          </a:ln>
        </p:spPr>
        <p:txBody>
          <a:bodyPr wrap="square" anchor="mid">
            <a:spAutoFit/>
          </a:bodyPr>
          <a:lstStyle/>
          <a:p>
            <a:pPr algn="l"/>
            <a:r>
              <a:rPr lang="zh-CN" sz="2000">
                <a:solidFill>
                  <a:srgbClr val="3538CD"/>
                </a:solidFill>
                <a:latin typeface="Microsoft YaHei"/>
                <a:ea typeface="Microsoft YaHei"/>
              </a:rPr>
              <a:t>结构化事实抽取</a:t>
            </a:r>
          </a:p>
          <a:p>
            <a:pPr algn="l"/>
            <a:r>
              <a:rPr lang="zh-CN" sz="2000">
                <a:solidFill>
                  <a:srgbClr val="3538CD"/>
                </a:solidFill>
                <a:latin typeface="Microsoft YaHei"/>
                <a:ea typeface="Microsoft YaHei"/>
              </a:rPr>
              <a:t/>
            </a:r>
          </a:p>
          <a:p>
            <a:pPr algn="l"/>
            <a:r>
              <a:rPr lang="zh-CN" sz="2000">
                <a:solidFill>
                  <a:srgbClr val="3538CD"/>
                </a:solidFill>
                <a:latin typeface="Microsoft YaHei"/>
                <a:ea typeface="Microsoft YaHei"/>
              </a:rPr>
              <a:t>- 研究问题</a:t>
            </a:r>
          </a:p>
          <a:p>
            <a:pPr algn="l"/>
            <a:r>
              <a:rPr lang="zh-CN" sz="2000">
                <a:solidFill>
                  <a:srgbClr val="3538CD"/>
                </a:solidFill>
                <a:latin typeface="Microsoft YaHei"/>
                <a:ea typeface="Microsoft YaHei"/>
              </a:rPr>
              <a:t>- 主要 claim</a:t>
            </a:r>
          </a:p>
          <a:p>
            <a:pPr algn="l"/>
            <a:r>
              <a:rPr lang="zh-CN" sz="2000">
                <a:solidFill>
                  <a:srgbClr val="3538CD"/>
                </a:solidFill>
                <a:latin typeface="Microsoft YaHei"/>
                <a:ea typeface="Microsoft YaHei"/>
              </a:rPr>
              <a:t>- 方法摘要</a:t>
            </a:r>
          </a:p>
          <a:p>
            <a:pPr algn="l"/>
            <a:r>
              <a:rPr lang="zh-CN" sz="2000">
                <a:solidFill>
                  <a:srgbClr val="3538CD"/>
                </a:solidFill>
                <a:latin typeface="Microsoft YaHei"/>
                <a:ea typeface="Microsoft YaHei"/>
              </a:rPr>
              <a:t>- 数据集与基线</a:t>
            </a:r>
          </a:p>
          <a:p>
            <a:pPr algn="l"/>
            <a:r>
              <a:rPr lang="zh-CN" sz="2000">
                <a:solidFill>
                  <a:srgbClr val="3538CD"/>
                </a:solidFill>
                <a:latin typeface="Microsoft YaHei"/>
                <a:ea typeface="Microsoft YaHei"/>
              </a:rPr>
              <a:t>- 关键实验结果</a:t>
            </a:r>
          </a:p>
          <a:p>
            <a:pPr algn="l"/>
            <a:r>
              <a:rPr lang="zh-CN" sz="2000">
                <a:solidFill>
                  <a:srgbClr val="3538CD"/>
                </a:solidFill>
                <a:latin typeface="Microsoft YaHei"/>
                <a:ea typeface="Microsoft YaHei"/>
              </a:rPr>
              <a:t>- 局限性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4950000" y="2150000"/>
            <a:ext cx="3400000" cy="1180000"/>
          </a:xfrm>
          <a:prstGeom prst="roundRect">
            <a:avLst/>
          </a:prstGeom>
          <a:solidFill>
            <a:srgbClr val="FFFFFF"/>
          </a:solidFill>
          <a:ln w="12000">
            <a:solidFill>
              <a:srgbClr val="D0D5DD"/>
            </a:solidFill>
          </a:ln>
        </p:spPr>
        <p:txBody>
          <a:bodyPr wrap="square" anchor="mid">
            <a:spAutoFit/>
          </a:bodyPr>
          <a:lstStyle/>
          <a:p>
            <a:pPr algn="c"/>
            <a:r>
              <a:rPr lang="zh-CN" sz="2400" b="1">
                <a:solidFill>
                  <a:srgbClr val="172033"/>
                </a:solidFill>
                <a:latin typeface="Microsoft YaHei"/>
                <a:ea typeface="Microsoft YaHei"/>
              </a:rPr>
              <a:t>事实底座</a:t>
            </a:r>
          </a:p>
        </p:txBody>
      </p:sp>
      <p:cxnSp>
        <p:nvCxnSpPr>
          <p:cNvPr id="51" name="Connector 51"/>
          <p:cNvCxnSpPr/>
          <p:nvPr/>
        </p:nvCxnSpPr>
        <p:spPr>
          <a:xfrm>
            <a:off x="4900000" y="2650000"/>
            <a:ext cx="50000" cy="1"/>
          </a:xfrm>
          <a:prstGeom prst="line">
            <a:avLst/>
          </a:prstGeom>
          <a:ln w="22000">
            <a:solidFill>
              <a:srgbClr val="6B7280"/>
            </a:solidFill>
            <a:tailEnd type="triangle"/>
          </a:ln>
        </p:spPr>
      </p:cxnSp>
      <p:cxnSp>
        <p:nvCxnSpPr>
          <p:cNvPr id="52" name="Connector 52"/>
          <p:cNvCxnSpPr/>
          <p:nvPr/>
        </p:nvCxnSpPr>
        <p:spPr>
          <a:xfrm>
            <a:off x="8350000" y="2650000"/>
            <a:ext cx="550000" cy="1"/>
          </a:xfrm>
          <a:prstGeom prst="line">
            <a:avLst/>
          </a:prstGeom>
          <a:ln w="22000">
            <a:solidFill>
              <a:srgbClr val="6B7280"/>
            </a:solidFill>
            <a:tailEnd type="triangle"/>
          </a:ln>
        </p:spPr>
      </p:cxnSp>
      <p:sp>
        <p:nvSpPr>
          <p:cNvPr id="52" name="TextBox 52"/>
          <p:cNvSpPr txBox="1"/>
          <p:nvPr/>
        </p:nvSpPr>
        <p:spPr>
          <a:xfrm>
            <a:off x="8900000" y="1750000"/>
            <a:ext cx="3600000" cy="2000000"/>
          </a:xfrm>
          <a:prstGeom prst="roundRect">
            <a:avLst/>
          </a:prstGeom>
          <a:solidFill>
            <a:srgbClr val="FFF6ED"/>
          </a:solidFill>
          <a:ln w="12000">
            <a:solidFill>
              <a:srgbClr val="FEDF89"/>
            </a:solidFill>
          </a:ln>
        </p:spPr>
        <p:txBody>
          <a:bodyPr wrap="square" anchor="mid">
            <a:spAutoFit/>
          </a:bodyPr>
          <a:lstStyle/>
          <a:p>
            <a:pPr algn="l"/>
            <a:r>
              <a:rPr lang="zh-CN" sz="2000">
                <a:solidFill>
                  <a:srgbClr val="B54708"/>
                </a:solidFill>
                <a:latin typeface="Microsoft YaHei"/>
                <a:ea typeface="Microsoft YaHei"/>
              </a:rPr>
              <a:t>few-shot RAG 校准</a:t>
            </a:r>
          </a:p>
          <a:p>
            <a:pPr algn="l"/>
            <a:r>
              <a:rPr lang="zh-CN" sz="2000">
                <a:solidFill>
                  <a:srgbClr val="B54708"/>
                </a:solidFill>
                <a:latin typeface="Microsoft YaHei"/>
                <a:ea typeface="Microsoft YaHei"/>
              </a:rPr>
              <a:t/>
            </a:r>
          </a:p>
          <a:p>
            <a:pPr algn="l"/>
            <a:r>
              <a:rPr lang="zh-CN" sz="2000">
                <a:solidFill>
                  <a:srgbClr val="B54708"/>
                </a:solidFill>
                <a:latin typeface="Microsoft YaHei"/>
                <a:ea typeface="Microsoft YaHei"/>
              </a:rPr>
              <a:t>- TF-IDF 检索相似评审</a:t>
            </a:r>
          </a:p>
          <a:p>
            <a:pPr algn="l"/>
            <a:r>
              <a:rPr lang="zh-CN" sz="2000">
                <a:solidFill>
                  <a:srgbClr val="B54708"/>
                </a:solidFill>
                <a:latin typeface="Microsoft YaHei"/>
                <a:ea typeface="Microsoft YaHei"/>
              </a:rPr>
              <a:t>- 按维度筛选样例</a:t>
            </a:r>
          </a:p>
          <a:p>
            <a:pPr algn="l"/>
            <a:r>
              <a:rPr lang="zh-CN" sz="2000">
                <a:solidFill>
                  <a:srgbClr val="B54708"/>
                </a:solidFill>
                <a:latin typeface="Microsoft YaHei"/>
                <a:ea typeface="Microsoft YaHei"/>
              </a:rPr>
              <a:t>- 注入高/中/低分 anchor</a:t>
            </a:r>
          </a:p>
          <a:p>
            <a:pPr algn="l"/>
            <a:r>
              <a:rPr lang="zh-CN" sz="2000">
                <a:solidFill>
                  <a:srgbClr val="B54708"/>
                </a:solidFill>
                <a:latin typeface="Microsoft YaHei"/>
                <a:ea typeface="Microsoft YaHei"/>
              </a:rPr>
              <a:t>- 校准评分尺度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150000" y="4700000"/>
            <a:ext cx="10700000" cy="780000"/>
          </a:xfrm>
          <a:prstGeom prst="roundRect">
            <a:avLst/>
          </a:prstGeom>
          <a:solidFill>
            <a:srgbClr val="FFFFFF"/>
          </a:solidFill>
          <a:ln w="12000">
            <a:solidFill>
              <a:srgbClr val="D0D5DD"/>
            </a:solidFill>
          </a:ln>
        </p:spPr>
        <p:txBody>
          <a:bodyPr wrap="square" anchor="mid">
            <a:spAutoFit/>
          </a:bodyPr>
          <a:lstStyle/>
          <a:p>
            <a:pPr algn="c"/>
            <a:r>
              <a:rPr lang="zh-CN" sz="2300" b="1">
                <a:solidFill>
                  <a:srgbClr val="344054"/>
                </a:solidFill>
                <a:latin typeface="Microsoft YaHei"/>
                <a:ea typeface="Microsoft YaHei"/>
              </a:rPr>
              <a:t>结果：评审意见必须回到论文事实，分数也参考历史样例标准，减少“泛泛而评”和尺度漂移。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extBox 54"/>
          <p:cNvSpPr txBox="1"/>
          <p:nvPr/>
        </p:nvSpPr>
        <p:spPr>
          <a:xfrm>
            <a:off x="650000" y="440000"/>
            <a:ext cx="120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zh-CN" sz="3400" b="1">
                <a:solidFill>
                  <a:srgbClr val="101828"/>
                </a:solidFill>
                <a:latin typeface="Microsoft YaHei"/>
                <a:ea typeface="Microsoft YaHei"/>
              </a:rPr>
              <a:t>核心模块 3：七维专家评审与 Hybrid 调度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650000" y="1080000"/>
            <a:ext cx="10800000" cy="36000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zh-CN" sz="1600">
                <a:solidFill>
                  <a:srgbClr val="667085"/>
                </a:solidFill>
                <a:latin typeface="Microsoft YaHei"/>
                <a:ea typeface="Microsoft YaHei"/>
              </a:rPr>
              <a:t>用多个专家视角覆盖同行评审的主要维度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850000" y="1700000"/>
            <a:ext cx="2800000" cy="1250000"/>
          </a:xfrm>
          <a:prstGeom prst="roundRect">
            <a:avLst/>
          </a:prstGeom>
          <a:solidFill>
            <a:srgbClr val="EFF8FF"/>
          </a:solidFill>
          <a:ln w="12000">
            <a:solidFill>
              <a:srgbClr val="B2DDFF"/>
            </a:solidFill>
          </a:ln>
        </p:spPr>
        <p:txBody>
          <a:bodyPr wrap="square" anchor="mid">
            <a:spAutoFit/>
          </a:bodyPr>
          <a:lstStyle/>
          <a:p>
            <a:pPr algn="c"/>
            <a:r>
              <a:rPr lang="zh-CN" sz="1800" b="1">
                <a:solidFill>
                  <a:srgbClr val="175CD3"/>
                </a:solidFill>
                <a:latin typeface="Microsoft YaHei"/>
                <a:ea typeface="Microsoft YaHei"/>
              </a:rPr>
              <a:t>组 1</a:t>
            </a:r>
          </a:p>
          <a:p>
            <a:pPr algn="c"/>
            <a:r>
              <a:rPr lang="zh-CN" sz="1800" b="1">
                <a:solidFill>
                  <a:srgbClr val="175CD3"/>
                </a:solidFill>
                <a:latin typeface="Microsoft YaHei"/>
                <a:ea typeface="Microsoft YaHei"/>
              </a:rPr>
              <a:t/>
            </a:r>
          </a:p>
          <a:p>
            <a:pPr algn="c"/>
            <a:r>
              <a:rPr lang="zh-CN" sz="1800" b="1">
                <a:solidFill>
                  <a:srgbClr val="175CD3"/>
                </a:solidFill>
                <a:latin typeface="Microsoft YaHei"/>
                <a:ea typeface="Microsoft YaHei"/>
              </a:rPr>
              <a:t>Experimental Validity</a:t>
            </a:r>
          </a:p>
          <a:p>
            <a:pPr algn="c"/>
            <a:r>
              <a:rPr lang="zh-CN" sz="1800" b="1">
                <a:solidFill>
                  <a:srgbClr val="175CD3"/>
                </a:solidFill>
                <a:latin typeface="Microsoft YaHei"/>
                <a:ea typeface="Microsoft YaHei"/>
              </a:rPr>
              <a:t>Reproducibility</a:t>
            </a:r>
          </a:p>
          <a:p>
            <a:pPr algn="c"/>
            <a:r>
              <a:rPr lang="zh-CN" sz="1800" b="1">
                <a:solidFill>
                  <a:srgbClr val="175CD3"/>
                </a:solidFill>
                <a:latin typeface="Microsoft YaHei"/>
                <a:ea typeface="Microsoft YaHei"/>
              </a:rPr>
              <a:t>Related Work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4250000" y="1700000"/>
            <a:ext cx="2800000" cy="1250000"/>
          </a:xfrm>
          <a:prstGeom prst="roundRect">
            <a:avLst/>
          </a:prstGeom>
          <a:solidFill>
            <a:srgbClr val="ECFDF3"/>
          </a:solidFill>
          <a:ln w="12000">
            <a:solidFill>
              <a:srgbClr val="ABEFC6"/>
            </a:solidFill>
          </a:ln>
        </p:spPr>
        <p:txBody>
          <a:bodyPr wrap="square" anchor="mid">
            <a:spAutoFit/>
          </a:bodyPr>
          <a:lstStyle/>
          <a:p>
            <a:pPr algn="c"/>
            <a:r>
              <a:rPr lang="zh-CN" sz="1800" b="1">
                <a:solidFill>
                  <a:srgbClr val="067647"/>
                </a:solidFill>
                <a:latin typeface="Microsoft YaHei"/>
                <a:ea typeface="Microsoft YaHei"/>
              </a:rPr>
              <a:t>组 2</a:t>
            </a:r>
          </a:p>
          <a:p>
            <a:pPr algn="c"/>
            <a:r>
              <a:rPr lang="zh-CN" sz="1800" b="1">
                <a:solidFill>
                  <a:srgbClr val="067647"/>
                </a:solidFill>
                <a:latin typeface="Microsoft YaHei"/>
                <a:ea typeface="Microsoft YaHei"/>
              </a:rPr>
              <a:t/>
            </a:r>
          </a:p>
          <a:p>
            <a:pPr algn="c"/>
            <a:r>
              <a:rPr lang="zh-CN" sz="1800" b="1">
                <a:solidFill>
                  <a:srgbClr val="067647"/>
                </a:solidFill>
                <a:latin typeface="Microsoft YaHei"/>
                <a:ea typeface="Microsoft YaHei"/>
              </a:rPr>
              <a:t>Methodological Rigor</a:t>
            </a:r>
          </a:p>
          <a:p>
            <a:pPr algn="c"/>
            <a:r>
              <a:rPr lang="zh-CN" sz="1800" b="1">
                <a:solidFill>
                  <a:srgbClr val="067647"/>
                </a:solidFill>
                <a:latin typeface="Microsoft YaHei"/>
                <a:ea typeface="Microsoft YaHei"/>
              </a:rPr>
              <a:t>Novelty Assessment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7650000" y="1700000"/>
            <a:ext cx="2800000" cy="1250000"/>
          </a:xfrm>
          <a:prstGeom prst="roundRect">
            <a:avLst/>
          </a:prstGeom>
          <a:solidFill>
            <a:srgbClr val="FFF6ED"/>
          </a:solidFill>
          <a:ln w="12000">
            <a:solidFill>
              <a:srgbClr val="FEDF89"/>
            </a:solidFill>
          </a:ln>
        </p:spPr>
        <p:txBody>
          <a:bodyPr wrap="square" anchor="mid">
            <a:spAutoFit/>
          </a:bodyPr>
          <a:lstStyle/>
          <a:p>
            <a:pPr algn="c"/>
            <a:r>
              <a:rPr lang="zh-CN" sz="1800" b="1">
                <a:solidFill>
                  <a:srgbClr val="B54708"/>
                </a:solidFill>
                <a:latin typeface="Microsoft YaHei"/>
                <a:ea typeface="Microsoft YaHei"/>
              </a:rPr>
              <a:t>组 3</a:t>
            </a:r>
          </a:p>
          <a:p>
            <a:pPr algn="c"/>
            <a:r>
              <a:rPr lang="zh-CN" sz="1800" b="1">
                <a:solidFill>
                  <a:srgbClr val="B54708"/>
                </a:solidFill>
                <a:latin typeface="Microsoft YaHei"/>
                <a:ea typeface="Microsoft YaHei"/>
              </a:rPr>
              <a:t/>
            </a:r>
          </a:p>
          <a:p>
            <a:pPr algn="c"/>
            <a:r>
              <a:rPr lang="zh-CN" sz="1800" b="1">
                <a:solidFill>
                  <a:srgbClr val="B54708"/>
                </a:solidFill>
                <a:latin typeface="Microsoft YaHei"/>
                <a:ea typeface="Microsoft YaHei"/>
              </a:rPr>
              <a:t>Writing Quality</a:t>
            </a:r>
          </a:p>
          <a:p>
            <a:pPr algn="c"/>
            <a:r>
              <a:rPr lang="zh-CN" sz="1800" b="1">
                <a:solidFill>
                  <a:srgbClr val="B54708"/>
                </a:solidFill>
                <a:latin typeface="Microsoft YaHei"/>
                <a:ea typeface="Microsoft YaHei"/>
              </a:rPr>
              <a:t>Ethical Considerations</a:t>
            </a:r>
          </a:p>
        </p:txBody>
      </p:sp>
      <p:cxnSp>
        <p:nvCxnSpPr>
          <p:cNvPr id="60" name="Connector 60"/>
          <p:cNvCxnSpPr/>
          <p:nvPr/>
        </p:nvCxnSpPr>
        <p:spPr>
          <a:xfrm>
            <a:off x="3650000" y="2325000"/>
            <a:ext cx="600000" cy="1"/>
          </a:xfrm>
          <a:prstGeom prst="line">
            <a:avLst/>
          </a:prstGeom>
          <a:ln w="22000">
            <a:solidFill>
              <a:srgbClr val="6B7280"/>
            </a:solidFill>
            <a:tailEnd type="triangle"/>
          </a:ln>
        </p:spPr>
      </p:cxnSp>
      <p:cxnSp>
        <p:nvCxnSpPr>
          <p:cNvPr id="61" name="Connector 61"/>
          <p:cNvCxnSpPr/>
          <p:nvPr/>
        </p:nvCxnSpPr>
        <p:spPr>
          <a:xfrm>
            <a:off x="7050000" y="2325000"/>
            <a:ext cx="600000" cy="1"/>
          </a:xfrm>
          <a:prstGeom prst="line">
            <a:avLst/>
          </a:prstGeom>
          <a:ln w="22000">
            <a:solidFill>
              <a:srgbClr val="6B7280"/>
            </a:solidFill>
            <a:tailEnd type="triangle"/>
          </a:ln>
        </p:spPr>
      </p:cxnSp>
      <p:sp>
        <p:nvSpPr>
          <p:cNvPr id="61" name="TextBox 61"/>
          <p:cNvSpPr txBox="1"/>
          <p:nvPr/>
        </p:nvSpPr>
        <p:spPr>
          <a:xfrm>
            <a:off x="10850000" y="1700000"/>
            <a:ext cx="1700000" cy="1250000"/>
          </a:xfrm>
          <a:prstGeom prst="roundRect">
            <a:avLst/>
          </a:prstGeom>
          <a:solidFill>
            <a:srgbClr val="F4F3FF"/>
          </a:solidFill>
          <a:ln w="12000">
            <a:solidFill>
              <a:srgbClr val="D9D6FE"/>
            </a:solidFill>
          </a:ln>
        </p:spPr>
        <p:txBody>
          <a:bodyPr wrap="square" anchor="mid">
            <a:spAutoFit/>
          </a:bodyPr>
          <a:lstStyle/>
          <a:p>
            <a:pPr algn="c"/>
            <a:r>
              <a:rPr lang="zh-CN" sz="1800" b="1">
                <a:solidFill>
                  <a:srgbClr val="5925DC"/>
                </a:solidFill>
                <a:latin typeface="Microsoft YaHei"/>
                <a:ea typeface="Microsoft YaHei"/>
              </a:rPr>
              <a:t>并发批评审</a:t>
            </a:r>
          </a:p>
          <a:p>
            <a:pPr algn="c"/>
            <a:r>
              <a:rPr lang="zh-CN" sz="1800" b="1">
                <a:solidFill>
                  <a:srgbClr val="5925DC"/>
                </a:solidFill>
                <a:latin typeface="Microsoft YaHei"/>
                <a:ea typeface="Microsoft YaHei"/>
              </a:rPr>
              <a:t>JSON 输出</a:t>
            </a:r>
          </a:p>
        </p:txBody>
      </p:sp>
      <p:cxnSp>
        <p:nvCxnSpPr>
          <p:cNvPr id="63" name="Connector 63"/>
          <p:cNvCxnSpPr/>
          <p:nvPr/>
        </p:nvCxnSpPr>
        <p:spPr>
          <a:xfrm>
            <a:off x="10450000" y="2325000"/>
            <a:ext cx="400000" cy="1"/>
          </a:xfrm>
          <a:prstGeom prst="line">
            <a:avLst/>
          </a:prstGeom>
          <a:ln w="22000">
            <a:solidFill>
              <a:srgbClr val="6B7280"/>
            </a:solidFill>
            <a:tailEnd type="triangle"/>
          </a:ln>
        </p:spPr>
      </p:cxnSp>
      <p:sp>
        <p:nvSpPr>
          <p:cNvPr id="63" name="TextBox 63"/>
          <p:cNvSpPr txBox="1"/>
          <p:nvPr/>
        </p:nvSpPr>
        <p:spPr>
          <a:xfrm>
            <a:off x="1200000" y="4150000"/>
            <a:ext cx="10900000" cy="1240000"/>
          </a:xfrm>
          <a:prstGeom prst="roundRect">
            <a:avLst/>
          </a:prstGeom>
          <a:solidFill>
            <a:srgbClr val="FFFFFF"/>
          </a:solidFill>
          <a:ln w="12000">
            <a:solidFill>
              <a:srgbClr val="D0D5DD"/>
            </a:solidFill>
          </a:ln>
        </p:spPr>
        <p:txBody>
          <a:bodyPr wrap="square" anchor="mid">
            <a:spAutoFit/>
          </a:bodyPr>
          <a:lstStyle/>
          <a:p>
            <a:pPr algn="c"/>
            <a:r>
              <a:rPr lang="zh-CN" sz="2300">
                <a:solidFill>
                  <a:srgbClr val="344054"/>
                </a:solidFill>
                <a:latin typeface="Microsoft YaHei"/>
                <a:ea typeface="Microsoft YaHei"/>
              </a:rPr>
              <a:t>默认采用 3+2+2 Hybrid 分组：比单维逐个调用更省 token，比一次性评全部维度更稳定；每个维度使用独立 role、checklist 和 JSON schema。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extBox 64"/>
          <p:cNvSpPr txBox="1"/>
          <p:nvPr/>
        </p:nvSpPr>
        <p:spPr>
          <a:xfrm>
            <a:off x="650000" y="440000"/>
            <a:ext cx="120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zh-CN" sz="3400" b="1">
                <a:solidFill>
                  <a:srgbClr val="101828"/>
                </a:solidFill>
                <a:latin typeface="Microsoft YaHei"/>
                <a:ea typeface="Microsoft YaHei"/>
              </a:rPr>
              <a:t>质量控制与最终输出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650000" y="1080000"/>
            <a:ext cx="10800000" cy="36000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zh-CN" sz="1600">
                <a:solidFill>
                  <a:srgbClr val="667085"/>
                </a:solidFill>
                <a:latin typeface="Microsoft YaHei"/>
                <a:ea typeface="Microsoft YaHei"/>
              </a:rPr>
              <a:t>把多个维度的意见变成可读、可比较的评审结论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850000" y="1600000"/>
            <a:ext cx="3400000" cy="1350000"/>
          </a:xfrm>
          <a:prstGeom prst="roundRect">
            <a:avLst/>
          </a:prstGeom>
          <a:solidFill>
            <a:srgbClr val="FFFFFF"/>
          </a:solidFill>
          <a:ln w="12000">
            <a:solidFill>
              <a:srgbClr val="D0D5DD"/>
            </a:solidFill>
          </a:ln>
        </p:spPr>
        <p:txBody>
          <a:bodyPr wrap="square" anchor="mid">
            <a:spAutoFit/>
          </a:bodyPr>
          <a:lstStyle/>
          <a:p>
            <a:pPr algn="l"/>
            <a:r>
              <a:rPr lang="zh-CN" sz="1900">
                <a:solidFill>
                  <a:srgbClr val="172033"/>
                </a:solidFill>
                <a:latin typeface="Microsoft YaHei"/>
                <a:ea typeface="Microsoft YaHei"/>
              </a:rPr>
              <a:t>一致性检查</a:t>
            </a:r>
          </a:p>
          <a:p>
            <a:pPr algn="l"/>
            <a:r>
              <a:rPr lang="zh-CN" sz="1900">
                <a:solidFill>
                  <a:srgbClr val="172033"/>
                </a:solidFill>
                <a:latin typeface="Microsoft YaHei"/>
                <a:ea typeface="Microsoft YaHei"/>
              </a:rPr>
              <a:t/>
            </a:r>
          </a:p>
          <a:p>
            <a:pPr algn="l"/>
            <a:r>
              <a:rPr lang="zh-CN" sz="1900">
                <a:solidFill>
                  <a:srgbClr val="172033"/>
                </a:solidFill>
                <a:latin typeface="Microsoft YaHei"/>
                <a:ea typeface="Microsoft YaHei"/>
              </a:rPr>
              <a:t>检测高分但负面意见过重、低分但优点过强等 score-text mismatch。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4650000" y="1600000"/>
            <a:ext cx="3400000" cy="1350000"/>
          </a:xfrm>
          <a:prstGeom prst="roundRect">
            <a:avLst/>
          </a:prstGeom>
          <a:solidFill>
            <a:srgbClr val="FFFFFF"/>
          </a:solidFill>
          <a:ln w="12000">
            <a:solidFill>
              <a:srgbClr val="D0D5DD"/>
            </a:solidFill>
          </a:ln>
        </p:spPr>
        <p:txBody>
          <a:bodyPr wrap="square" anchor="mid">
            <a:spAutoFit/>
          </a:bodyPr>
          <a:lstStyle/>
          <a:p>
            <a:pPr algn="l"/>
            <a:r>
              <a:rPr lang="zh-CN" sz="1900">
                <a:solidFill>
                  <a:srgbClr val="172033"/>
                </a:solidFill>
                <a:latin typeface="Microsoft YaHei"/>
                <a:ea typeface="Microsoft YaHei"/>
              </a:rPr>
              <a:t>Grounding 检查</a:t>
            </a:r>
          </a:p>
          <a:p>
            <a:pPr algn="l"/>
            <a:r>
              <a:rPr lang="zh-CN" sz="1900">
                <a:solidFill>
                  <a:srgbClr val="172033"/>
                </a:solidFill>
                <a:latin typeface="Microsoft YaHei"/>
                <a:ea typeface="Microsoft YaHei"/>
              </a:rPr>
              <a:t/>
            </a:r>
          </a:p>
          <a:p>
            <a:pPr algn="l"/>
            <a:r>
              <a:rPr lang="zh-CN" sz="1900">
                <a:solidFill>
                  <a:srgbClr val="172033"/>
                </a:solidFill>
                <a:latin typeface="Microsoft YaHei"/>
                <a:ea typeface="Microsoft YaHei"/>
              </a:rPr>
              <a:t>将 strengths / weaknesses 与抽取事实做轻量匹配，标记可能未被论文事实支撑的意见。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8450000" y="1600000"/>
            <a:ext cx="3400000" cy="1350000"/>
          </a:xfrm>
          <a:prstGeom prst="roundRect">
            <a:avLst/>
          </a:prstGeom>
          <a:solidFill>
            <a:srgbClr val="FFFFFF"/>
          </a:solidFill>
          <a:ln w="12000">
            <a:solidFill>
              <a:srgbClr val="D0D5DD"/>
            </a:solidFill>
          </a:ln>
        </p:spPr>
        <p:txBody>
          <a:bodyPr wrap="square" anchor="mid">
            <a:spAutoFit/>
          </a:bodyPr>
          <a:lstStyle/>
          <a:p>
            <a:pPr algn="l"/>
            <a:r>
              <a:rPr lang="zh-CN" sz="1900">
                <a:solidFill>
                  <a:srgbClr val="172033"/>
                </a:solidFill>
                <a:latin typeface="Microsoft YaHei"/>
                <a:ea typeface="Microsoft YaHei"/>
              </a:rPr>
              <a:t>Area Chair 聚合</a:t>
            </a:r>
          </a:p>
          <a:p>
            <a:pPr algn="l"/>
            <a:r>
              <a:rPr lang="zh-CN" sz="1900">
                <a:solidFill>
                  <a:srgbClr val="172033"/>
                </a:solidFill>
                <a:latin typeface="Microsoft YaHei"/>
                <a:ea typeface="Microsoft YaHei"/>
              </a:rPr>
              <a:t/>
            </a:r>
          </a:p>
          <a:p>
            <a:pPr algn="l"/>
            <a:r>
              <a:rPr lang="zh-CN" sz="1900">
                <a:solidFill>
                  <a:srgbClr val="172033"/>
                </a:solidFill>
                <a:latin typeface="Microsoft YaHei"/>
                <a:ea typeface="Microsoft YaHei"/>
              </a:rPr>
              <a:t>基于各维度结果生成整体评价、推荐等级、核心优缺点与置信度。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1300000" y="4450000"/>
            <a:ext cx="10400000" cy="850000"/>
          </a:xfrm>
          <a:prstGeom prst="roundRect">
            <a:avLst/>
          </a:prstGeom>
          <a:solidFill>
            <a:srgbClr val="F4F3FF"/>
          </a:solidFill>
          <a:ln w="12000">
            <a:solidFill>
              <a:srgbClr val="D9D6FE"/>
            </a:solidFill>
          </a:ln>
        </p:spPr>
        <p:txBody>
          <a:bodyPr wrap="square" anchor="mid">
            <a:spAutoFit/>
          </a:bodyPr>
          <a:lstStyle/>
          <a:p>
            <a:pPr algn="c"/>
            <a:r>
              <a:rPr lang="zh-CN" sz="2200" b="1">
                <a:solidFill>
                  <a:srgbClr val="5925DC"/>
                </a:solidFill>
                <a:latin typeface="Microsoft YaHei"/>
                <a:ea typeface="Microsoft YaHei"/>
              </a:rPr>
              <a:t>最终输出：overallScore + dimension reviews + recommendation + top strengths/weaknesses + actionable suggestions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TextBox 70"/>
          <p:cNvSpPr txBox="1"/>
          <p:nvPr/>
        </p:nvSpPr>
        <p:spPr>
          <a:xfrm>
            <a:off x="650000" y="440000"/>
            <a:ext cx="120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zh-CN" sz="3400" b="1">
                <a:solidFill>
                  <a:srgbClr val="101828"/>
                </a:solidFill>
                <a:latin typeface="Microsoft YaHei"/>
                <a:ea typeface="Microsoft YaHei"/>
              </a:rPr>
              <a:t>一句话总结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1100000" y="1800000"/>
            <a:ext cx="11100000" cy="1350000"/>
          </a:xfrm>
          <a:prstGeom prst="roundRect">
            <a:avLst/>
          </a:prstGeom>
          <a:solidFill>
            <a:srgbClr val="FFFFFF"/>
          </a:solidFill>
          <a:ln w="12000">
            <a:solidFill>
              <a:srgbClr val="D0D5DD"/>
            </a:solidFill>
          </a:ln>
        </p:spPr>
        <p:txBody>
          <a:bodyPr wrap="square" anchor="mid">
            <a:spAutoFit/>
          </a:bodyPr>
          <a:lstStyle/>
          <a:p>
            <a:pPr algn="c"/>
            <a:r>
              <a:rPr lang="zh-CN" sz="3000" b="1">
                <a:solidFill>
                  <a:srgbClr val="101828"/>
                </a:solidFill>
                <a:latin typeface="Microsoft YaHei"/>
                <a:ea typeface="Microsoft YaHei"/>
              </a:rPr>
              <a:t>AutoReview 的核心不是“让 LLM 直接写评审”，而是先构造一个可验证、可校准、可分维度的评审上下文。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1250000" y="4000000"/>
            <a:ext cx="10800000" cy="1250000"/>
          </a:xfrm>
          <a:prstGeom prst="roundRect">
            <a:avLst/>
          </a:prstGeom>
          <a:solidFill>
            <a:srgbClr val="E8F0FE"/>
          </a:solidFill>
          <a:ln w="12000">
            <a:solidFill>
              <a:srgbClr val="B2CCFF"/>
            </a:solidFill>
          </a:ln>
        </p:spPr>
        <p:txBody>
          <a:bodyPr wrap="square" anchor="mid">
            <a:spAutoFit/>
          </a:bodyPr>
          <a:lstStyle/>
          <a:p>
            <a:pPr algn="c"/>
            <a:r>
              <a:rPr lang="zh-CN" sz="2600" b="1">
                <a:solidFill>
                  <a:srgbClr val="1849A9"/>
                </a:solidFill>
                <a:latin typeface="Microsoft YaHei"/>
                <a:ea typeface="Microsoft YaHei"/>
              </a:rPr>
              <a:t>PDF → 内容抽取 → 事实 Grounding → few-shot RAG 校准 → 多维专家评审 → 一致性检查 → Area Chair 聚合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3250000" y="5800000"/>
            <a:ext cx="6800000" cy="52000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c"/>
            <a:r>
              <a:rPr lang="zh-CN" sz="1800">
                <a:solidFill>
                  <a:srgbClr val="667085"/>
                </a:solidFill>
                <a:latin typeface="Microsoft YaHei"/>
                <a:ea typeface="Microsoft YaHei"/>
              </a:rPr>
              <a:t>核心关键词：Fact-grounded / RAG-calibrated / Multi-dimensional / Hybrid LLM Review</a:t>
            </a:r>
          </a:p>
        </p:txBody>
      </p:sp>
    </p:spTree>
  </p:cSld>
  <p:clrMapOvr>
    <a:masterClrMapping/>
  </p:clrMapOvr>
</p:sld>
</file>

<file path=docProps/app.xml><?xml version="1.0" encoding="utf-8"?>
<Properties xmlns="http://schemas.openxmlformats.org/officeDocument/2006/extended-properties" xmlns:vt="http://schemas.openxmlformats.org/officeDocument/2006/docPropsVTypes">
  <Application>Codex OpenXML Generator</Application>
  <PresentationFormat>Widescreen</PresentationFormat>
  <Slides>8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AutoReview 核心技术路线</dc:title>
  <dc:creator>Codex</dc:creator>
  <cp:lastModifiedBy>Codex</cp:lastModifiedBy>
  <dcterms:created xsi:type="dcterms:W3CDTF">2026-06-09T13:43:25.867313+00:00</dcterms:created>
  <dcterms:modified xsi:type="dcterms:W3CDTF">2026-06-09T13:43:25.867313+00:00</dcterms:modified>
</cp:coreProperties>
</file>